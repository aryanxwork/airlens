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Bold Italics" panose="020B0604020202020204" charset="0"/>
      <p:regular r:id="rId14"/>
    </p:embeddedFont>
    <p:embeddedFont>
      <p:font typeface="Inter Italics" panose="020B0604020202020204" charset="0"/>
      <p:regular r:id="rId15"/>
    </p:embeddedFont>
    <p:embeddedFont>
      <p:font typeface="Inter Medium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217" y="1992385"/>
            <a:ext cx="17745565" cy="281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70"/>
              </a:lnSpc>
            </a:pPr>
            <a:r>
              <a:rPr lang="en-US" sz="11494" b="1" spc="-609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Inter Medium"/>
                <a:ea typeface="Inter Medium"/>
                <a:cs typeface="Inter Medium"/>
                <a:sym typeface="Inter Medium"/>
              </a:rPr>
              <a:t>AQI  </a:t>
            </a:r>
          </a:p>
          <a:p>
            <a:pPr algn="ctr">
              <a:lnSpc>
                <a:spcPts val="1696"/>
              </a:lnSpc>
            </a:pPr>
            <a:endParaRPr lang="en-US" sz="11494" b="1" spc="-609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Inter Medium"/>
              <a:ea typeface="Inter Medium"/>
              <a:cs typeface="Inter Medium"/>
              <a:sym typeface="Inter Medium"/>
            </a:endParaRPr>
          </a:p>
          <a:p>
            <a:pPr algn="ctr">
              <a:lnSpc>
                <a:spcPts val="9770"/>
              </a:lnSpc>
            </a:pPr>
            <a:r>
              <a:rPr lang="en-US" sz="11494" b="1" spc="-609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Inter Medium"/>
                <a:ea typeface="Inter Medium"/>
                <a:cs typeface="Inter Medium"/>
                <a:sym typeface="Inter Medium"/>
              </a:rPr>
              <a:t>PREDICTION 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271217" y="234053"/>
            <a:ext cx="2975823" cy="2975823"/>
          </a:xfrm>
          <a:custGeom>
            <a:avLst/>
            <a:gdLst/>
            <a:ahLst/>
            <a:cxnLst/>
            <a:rect l="l" t="t" r="r" b="b"/>
            <a:pathLst>
              <a:path w="2975823" h="2975823">
                <a:moveTo>
                  <a:pt x="0" y="0"/>
                </a:moveTo>
                <a:lnTo>
                  <a:pt x="2975823" y="0"/>
                </a:lnTo>
                <a:lnTo>
                  <a:pt x="2975823" y="2975823"/>
                </a:lnTo>
                <a:lnTo>
                  <a:pt x="0" y="2975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489" y="7311177"/>
            <a:ext cx="2975823" cy="2975823"/>
          </a:xfrm>
          <a:custGeom>
            <a:avLst/>
            <a:gdLst/>
            <a:ahLst/>
            <a:cxnLst/>
            <a:rect l="l" t="t" r="r" b="b"/>
            <a:pathLst>
              <a:path w="2975823" h="2975823">
                <a:moveTo>
                  <a:pt x="0" y="0"/>
                </a:moveTo>
                <a:lnTo>
                  <a:pt x="2975823" y="0"/>
                </a:lnTo>
                <a:lnTo>
                  <a:pt x="2975823" y="2975823"/>
                </a:lnTo>
                <a:lnTo>
                  <a:pt x="0" y="2975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15312177" y="7311177"/>
            <a:ext cx="2975823" cy="2975823"/>
          </a:xfrm>
          <a:custGeom>
            <a:avLst/>
            <a:gdLst/>
            <a:ahLst/>
            <a:cxnLst/>
            <a:rect l="l" t="t" r="r" b="b"/>
            <a:pathLst>
              <a:path w="2975823" h="2975823">
                <a:moveTo>
                  <a:pt x="0" y="0"/>
                </a:moveTo>
                <a:lnTo>
                  <a:pt x="2975823" y="0"/>
                </a:lnTo>
                <a:lnTo>
                  <a:pt x="2975823" y="2975823"/>
                </a:lnTo>
                <a:lnTo>
                  <a:pt x="0" y="2975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5090457" y="234053"/>
            <a:ext cx="2975823" cy="2975823"/>
          </a:xfrm>
          <a:custGeom>
            <a:avLst/>
            <a:gdLst/>
            <a:ahLst/>
            <a:cxnLst/>
            <a:rect l="l" t="t" r="r" b="b"/>
            <a:pathLst>
              <a:path w="2975823" h="2975823">
                <a:moveTo>
                  <a:pt x="0" y="0"/>
                </a:moveTo>
                <a:lnTo>
                  <a:pt x="2975822" y="0"/>
                </a:lnTo>
                <a:lnTo>
                  <a:pt x="2975822" y="2975823"/>
                </a:lnTo>
                <a:lnTo>
                  <a:pt x="0" y="2975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607660" y="1236834"/>
            <a:ext cx="1361864" cy="1361864"/>
            <a:chOff x="0" y="0"/>
            <a:chExt cx="4699000" cy="469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99000" cy="4699000"/>
            </a:xfrm>
            <a:custGeom>
              <a:avLst/>
              <a:gdLst/>
              <a:ahLst/>
              <a:cxnLst/>
              <a:rect l="l" t="t" r="r" b="b"/>
              <a:pathLst>
                <a:path w="4699000" h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4699000"/>
                  </a:lnTo>
                  <a:lnTo>
                    <a:pt x="0" y="469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5999328" y="5389391"/>
            <a:ext cx="5746909" cy="297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9"/>
              </a:lnSpc>
            </a:pPr>
            <a:r>
              <a:rPr lang="en-US" sz="2849" i="1" spc="-15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GROUP MEMBERS</a:t>
            </a:r>
          </a:p>
          <a:p>
            <a:pPr algn="ctr">
              <a:lnSpc>
                <a:spcPts val="3279"/>
              </a:lnSpc>
            </a:pPr>
            <a:r>
              <a:rPr lang="en-US" sz="2342" spc="-1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TUSHAR SHARMA 1024030676</a:t>
            </a:r>
          </a:p>
          <a:p>
            <a:pPr algn="ctr">
              <a:lnSpc>
                <a:spcPts val="3279"/>
              </a:lnSpc>
            </a:pPr>
            <a:r>
              <a:rPr lang="en-US" sz="2342" spc="-1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ARYAN SHARMA 1024030679</a:t>
            </a:r>
          </a:p>
          <a:p>
            <a:pPr algn="ctr">
              <a:lnSpc>
                <a:spcPts val="3279"/>
              </a:lnSpc>
            </a:pPr>
            <a:r>
              <a:rPr lang="en-US" sz="2342" spc="-1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TAASHVI AGGARWAL 1024030681</a:t>
            </a:r>
          </a:p>
          <a:p>
            <a:pPr algn="ctr">
              <a:lnSpc>
                <a:spcPts val="3279"/>
              </a:lnSpc>
            </a:pPr>
            <a:r>
              <a:rPr lang="en-US" sz="2342" spc="-1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MAITHLI ARORA 1024030687</a:t>
            </a:r>
          </a:p>
          <a:p>
            <a:pPr algn="ctr">
              <a:lnSpc>
                <a:spcPts val="3279"/>
              </a:lnSpc>
            </a:pPr>
            <a:r>
              <a:rPr lang="en-US" sz="2342" spc="-12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ANSHIKA BANSAL 1024030689</a:t>
            </a:r>
          </a:p>
          <a:p>
            <a:pPr algn="ctr">
              <a:lnSpc>
                <a:spcPts val="3419"/>
              </a:lnSpc>
              <a:spcBef>
                <a:spcPct val="0"/>
              </a:spcBef>
            </a:pPr>
            <a:endParaRPr lang="en-US" sz="2342" spc="-12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380672" y="9006840"/>
            <a:ext cx="4419417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b="1" spc="-143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AI  FOR  </a:t>
            </a:r>
            <a:r>
              <a:rPr lang="en-US" sz="2699" spc="-143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ENGINEERS-UCS321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8386" y="8955299"/>
            <a:ext cx="4580942" cy="455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spc="-1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MICROSOFT  AI  FOR  EARTH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291" y="30726"/>
            <a:ext cx="3230149" cy="2139444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3"/>
                </a:lnTo>
                <a:lnTo>
                  <a:pt x="0" y="2810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163796" y="521953"/>
            <a:ext cx="3559135" cy="2567102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3"/>
                </a:lnTo>
                <a:lnTo>
                  <a:pt x="0" y="2810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00239" y="962252"/>
            <a:ext cx="11457705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PROBLEM 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987607"/>
            <a:ext cx="9525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10535" y="2547130"/>
            <a:ext cx="6566283" cy="672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471" b="1" i="1" spc="-183">
                <a:solidFill>
                  <a:srgbClr val="ACB7D2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sz="3471" b="1" spc="-183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The Challenge :</a:t>
            </a:r>
          </a:p>
          <a:p>
            <a:pPr algn="l">
              <a:lnSpc>
                <a:spcPts val="3808"/>
              </a:lnSpc>
            </a:pPr>
            <a:endParaRPr lang="en-US" sz="3471" b="1" spc="-183">
              <a:solidFill>
                <a:srgbClr val="ACB7D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587386" lvl="1" indent="-293693" algn="l">
              <a:lnSpc>
                <a:spcPts val="3808"/>
              </a:lnSpc>
              <a:buFont typeface="Arial"/>
              <a:buChar char="•"/>
            </a:pPr>
            <a:r>
              <a:rPr lang="en-US" sz="2720" b="1" spc="-14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Environmental Risk:</a:t>
            </a:r>
          </a:p>
          <a:p>
            <a:pPr algn="l">
              <a:lnSpc>
                <a:spcPts val="3677"/>
              </a:lnSpc>
            </a:pPr>
            <a:r>
              <a:rPr lang="en-US" sz="2626" spc="-1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Rising pollution levels pose significant threats to human health and urban sustainability.</a:t>
            </a:r>
          </a:p>
          <a:p>
            <a:pPr algn="l">
              <a:lnSpc>
                <a:spcPts val="3808"/>
              </a:lnSpc>
            </a:pPr>
            <a:endParaRPr lang="en-US" sz="2626" spc="-13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7386" lvl="1" indent="-293693" algn="l">
              <a:lnSpc>
                <a:spcPts val="3808"/>
              </a:lnSpc>
              <a:buFont typeface="Arial"/>
              <a:buChar char="•"/>
            </a:pPr>
            <a:r>
              <a:rPr lang="en-US" sz="2720" b="1" spc="-14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Modeling Challenge:</a:t>
            </a:r>
          </a:p>
          <a:p>
            <a:pPr algn="l">
              <a:lnSpc>
                <a:spcPts val="3677"/>
              </a:lnSpc>
            </a:pPr>
            <a:r>
              <a:rPr lang="en-US" sz="2626" spc="-1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AQI prediction requires capturing relationships among pollutants like PM2.5, PM10, NO₂, CO, SO₂, and O₃.</a:t>
            </a:r>
          </a:p>
          <a:p>
            <a:pPr algn="l">
              <a:lnSpc>
                <a:spcPts val="3808"/>
              </a:lnSpc>
            </a:pPr>
            <a:endParaRPr lang="en-US" sz="2626" spc="-13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7386" lvl="1" indent="-293693" algn="l">
              <a:lnSpc>
                <a:spcPts val="3808"/>
              </a:lnSpc>
              <a:buFont typeface="Arial"/>
              <a:buChar char="•"/>
            </a:pPr>
            <a:r>
              <a:rPr lang="en-US" sz="2720" b="1" spc="-14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Quality Issues:</a:t>
            </a:r>
          </a:p>
          <a:p>
            <a:pPr algn="l">
              <a:lnSpc>
                <a:spcPts val="3677"/>
              </a:lnSpc>
              <a:spcBef>
                <a:spcPct val="0"/>
              </a:spcBef>
            </a:pPr>
            <a:r>
              <a:rPr lang="en-US" sz="2626" spc="-1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Missing readings and sensor inconsistencies necessitate robust preprocessing strategies.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9134475" y="2613805"/>
            <a:ext cx="0" cy="7027556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9754246" y="2918778"/>
            <a:ext cx="7505054" cy="5361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8"/>
              </a:lnSpc>
            </a:pPr>
            <a:r>
              <a:rPr lang="en-US" sz="3470" b="1" spc="-183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 Core Objective:</a:t>
            </a:r>
          </a:p>
          <a:p>
            <a:pPr algn="l">
              <a:lnSpc>
                <a:spcPts val="3808"/>
              </a:lnSpc>
            </a:pPr>
            <a:endParaRPr lang="en-US" sz="3470" b="1" spc="-183">
              <a:solidFill>
                <a:srgbClr val="ACB7D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682"/>
              </a:lnSpc>
            </a:pPr>
            <a:r>
              <a:rPr lang="en-US" sz="2630" spc="-1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 Air Quality Index (AQI) using historical pollutant concentrations.</a:t>
            </a:r>
          </a:p>
          <a:p>
            <a:pPr algn="l">
              <a:lnSpc>
                <a:spcPts val="3682"/>
              </a:lnSpc>
            </a:pPr>
            <a:endParaRPr lang="en-US" sz="2630" spc="-13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682"/>
              </a:lnSpc>
            </a:pPr>
            <a:endParaRPr lang="en-US" sz="2630" spc="-13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808"/>
              </a:lnSpc>
            </a:pPr>
            <a:endParaRPr lang="en-US" sz="2630" spc="-13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859"/>
              </a:lnSpc>
            </a:pPr>
            <a:r>
              <a:rPr lang="en-US" sz="3471" b="1" spc="-183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 Target Variable  Definition:</a:t>
            </a:r>
          </a:p>
          <a:p>
            <a:pPr algn="l">
              <a:lnSpc>
                <a:spcPts val="3179"/>
              </a:lnSpc>
            </a:pPr>
            <a:endParaRPr lang="en-US" sz="3471" b="1" spc="-183">
              <a:solidFill>
                <a:srgbClr val="ACB7D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682"/>
              </a:lnSpc>
            </a:pPr>
            <a:r>
              <a:rPr lang="en-US" sz="2630" spc="-1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AQI (Continuous Value) </a:t>
            </a:r>
          </a:p>
          <a:p>
            <a:pPr algn="l">
              <a:lnSpc>
                <a:spcPts val="3682"/>
              </a:lnSpc>
              <a:spcBef>
                <a:spcPct val="0"/>
              </a:spcBef>
            </a:pPr>
            <a:r>
              <a:rPr lang="en-US" sz="2630" spc="-13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Higher AQI → Poorer Air Quality</a:t>
            </a:r>
          </a:p>
        </p:txBody>
      </p:sp>
      <p:sp>
        <p:nvSpPr>
          <p:cNvPr id="9" name="Freeform 9"/>
          <p:cNvSpPr/>
          <p:nvPr/>
        </p:nvSpPr>
        <p:spPr>
          <a:xfrm rot="10800000">
            <a:off x="14926228" y="7810500"/>
            <a:ext cx="3347024" cy="2476500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7" y="0"/>
                </a:lnTo>
                <a:lnTo>
                  <a:pt x="4246367" y="2810322"/>
                </a:lnTo>
                <a:lnTo>
                  <a:pt x="0" y="281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3643900" y="5681656"/>
            <a:ext cx="4434972" cy="4434972"/>
          </a:xfrm>
          <a:custGeom>
            <a:avLst/>
            <a:gdLst/>
            <a:ahLst/>
            <a:cxnLst/>
            <a:rect l="l" t="t" r="r" b="b"/>
            <a:pathLst>
              <a:path w="4434972" h="4434972">
                <a:moveTo>
                  <a:pt x="0" y="0"/>
                </a:moveTo>
                <a:lnTo>
                  <a:pt x="4434972" y="0"/>
                </a:lnTo>
                <a:lnTo>
                  <a:pt x="4434972" y="4434972"/>
                </a:lnTo>
                <a:lnTo>
                  <a:pt x="0" y="4434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5367" y="193522"/>
            <a:ext cx="4075862" cy="4075862"/>
          </a:xfrm>
          <a:custGeom>
            <a:avLst/>
            <a:gdLst/>
            <a:ahLst/>
            <a:cxnLst/>
            <a:rect l="l" t="t" r="r" b="b"/>
            <a:pathLst>
              <a:path w="4075862" h="4075862">
                <a:moveTo>
                  <a:pt x="0" y="0"/>
                </a:moveTo>
                <a:lnTo>
                  <a:pt x="4075862" y="0"/>
                </a:lnTo>
                <a:lnTo>
                  <a:pt x="4075862" y="4075862"/>
                </a:lnTo>
                <a:lnTo>
                  <a:pt x="0" y="407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43380" y="7522689"/>
            <a:ext cx="11212140" cy="1176403"/>
          </a:xfrm>
          <a:custGeom>
            <a:avLst/>
            <a:gdLst/>
            <a:ahLst/>
            <a:cxnLst/>
            <a:rect l="l" t="t" r="r" b="b"/>
            <a:pathLst>
              <a:path w="11212140" h="1176403">
                <a:moveTo>
                  <a:pt x="0" y="0"/>
                </a:moveTo>
                <a:lnTo>
                  <a:pt x="11212140" y="0"/>
                </a:lnTo>
                <a:lnTo>
                  <a:pt x="11212140" y="1176403"/>
                </a:lnTo>
                <a:lnTo>
                  <a:pt x="0" y="1176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00239" y="962252"/>
            <a:ext cx="11457705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b="1" spc="-424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3380" y="3083295"/>
            <a:ext cx="7802849" cy="5027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3607" b="1" spc="-191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 Source:</a:t>
            </a:r>
          </a:p>
          <a:p>
            <a:pPr algn="l">
              <a:lnSpc>
                <a:spcPts val="611"/>
              </a:lnSpc>
            </a:pPr>
            <a:endParaRPr lang="en-US" sz="3607" b="1" spc="-191">
              <a:solidFill>
                <a:srgbClr val="ACB7D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828"/>
              </a:lnSpc>
            </a:pPr>
            <a:r>
              <a:rPr lang="en-US" sz="2734" b="1" i="1" spc="-144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 </a:t>
            </a:r>
            <a:r>
              <a:rPr lang="en-US" sz="2734" spc="-1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Kaggle</a:t>
            </a:r>
          </a:p>
          <a:p>
            <a:pPr algn="l">
              <a:lnSpc>
                <a:spcPts val="3828"/>
              </a:lnSpc>
            </a:pPr>
            <a:endParaRPr lang="en-US" sz="2734" spc="-14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179"/>
              </a:lnSpc>
            </a:pPr>
            <a:endParaRPr lang="en-US" sz="2734" spc="-14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5052"/>
              </a:lnSpc>
            </a:pPr>
            <a:r>
              <a:rPr lang="en-US" sz="3608" b="1" spc="-191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 Description: </a:t>
            </a:r>
          </a:p>
          <a:p>
            <a:pPr algn="l">
              <a:lnSpc>
                <a:spcPts val="572"/>
              </a:lnSpc>
            </a:pPr>
            <a:endParaRPr lang="en-US" sz="3608" b="1" spc="-191">
              <a:solidFill>
                <a:srgbClr val="ACB7D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828"/>
              </a:lnSpc>
            </a:pPr>
            <a:r>
              <a:rPr lang="en-US" sz="2734" spc="-14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Air Quality Data in India (2015–2020)    By CPCB</a:t>
            </a:r>
          </a:p>
          <a:p>
            <a:pPr algn="l">
              <a:lnSpc>
                <a:spcPts val="3828"/>
              </a:lnSpc>
            </a:pPr>
            <a:endParaRPr lang="en-US" sz="2734" spc="-14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188"/>
              </a:lnSpc>
            </a:pPr>
            <a:endParaRPr lang="en-US" sz="2734" spc="-14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5053"/>
              </a:lnSpc>
            </a:pPr>
            <a:r>
              <a:rPr lang="en-US" sz="3609" b="1" spc="-191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Features:</a:t>
            </a:r>
          </a:p>
          <a:p>
            <a:pPr algn="l">
              <a:lnSpc>
                <a:spcPts val="3828"/>
              </a:lnSpc>
            </a:pPr>
            <a:endParaRPr lang="en-US" sz="3609" b="1" spc="-191">
              <a:solidFill>
                <a:srgbClr val="ACB7D2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828"/>
              </a:lnSpc>
              <a:spcBef>
                <a:spcPct val="0"/>
              </a:spcBef>
            </a:pPr>
            <a:endParaRPr lang="en-US" sz="3609" b="1" spc="-191">
              <a:solidFill>
                <a:srgbClr val="ACB7D2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12042" y="1034631"/>
            <a:ext cx="11457705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 dirty="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DATA PRE-PROCESSING</a:t>
            </a:r>
          </a:p>
        </p:txBody>
      </p:sp>
      <p:sp>
        <p:nvSpPr>
          <p:cNvPr id="3" name="Freeform 3"/>
          <p:cNvSpPr/>
          <p:nvPr/>
        </p:nvSpPr>
        <p:spPr>
          <a:xfrm>
            <a:off x="46057" y="84039"/>
            <a:ext cx="3436881" cy="2126972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3"/>
                </a:lnTo>
                <a:lnTo>
                  <a:pt x="0" y="2810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00000">
            <a:off x="14485958" y="7465584"/>
            <a:ext cx="3802042" cy="2813134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3"/>
                </a:lnTo>
                <a:lnTo>
                  <a:pt x="0" y="2810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1028700" y="5926949"/>
            <a:ext cx="870147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0714377" y="3754616"/>
            <a:ext cx="7141082" cy="881023"/>
          </a:xfrm>
          <a:custGeom>
            <a:avLst/>
            <a:gdLst/>
            <a:ahLst/>
            <a:cxnLst/>
            <a:rect l="l" t="t" r="r" b="b"/>
            <a:pathLst>
              <a:path w="7141082" h="881023">
                <a:moveTo>
                  <a:pt x="0" y="0"/>
                </a:moveTo>
                <a:lnTo>
                  <a:pt x="7141081" y="0"/>
                </a:lnTo>
                <a:lnTo>
                  <a:pt x="7141081" y="881023"/>
                </a:lnTo>
                <a:lnTo>
                  <a:pt x="0" y="881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13" b="-101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85827" y="5459251"/>
            <a:ext cx="6739515" cy="581448"/>
          </a:xfrm>
          <a:custGeom>
            <a:avLst/>
            <a:gdLst/>
            <a:ahLst/>
            <a:cxnLst/>
            <a:rect l="l" t="t" r="r" b="b"/>
            <a:pathLst>
              <a:path w="6739515" h="581448">
                <a:moveTo>
                  <a:pt x="0" y="0"/>
                </a:moveTo>
                <a:lnTo>
                  <a:pt x="6739514" y="0"/>
                </a:lnTo>
                <a:lnTo>
                  <a:pt x="6739514" y="581448"/>
                </a:lnTo>
                <a:lnTo>
                  <a:pt x="0" y="581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flipH="1" flipV="1">
            <a:off x="10309564" y="2981747"/>
            <a:ext cx="0" cy="5890404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2615868" y="6864311"/>
            <a:ext cx="2847786" cy="750223"/>
          </a:xfrm>
          <a:custGeom>
            <a:avLst/>
            <a:gdLst/>
            <a:ahLst/>
            <a:cxnLst/>
            <a:rect l="l" t="t" r="r" b="b"/>
            <a:pathLst>
              <a:path w="2847786" h="750223">
                <a:moveTo>
                  <a:pt x="0" y="0"/>
                </a:moveTo>
                <a:lnTo>
                  <a:pt x="2847785" y="0"/>
                </a:lnTo>
                <a:lnTo>
                  <a:pt x="2847785" y="750223"/>
                </a:lnTo>
                <a:lnTo>
                  <a:pt x="0" y="750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0032" y="2685983"/>
            <a:ext cx="2272010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32" dirty="0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FILTERING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4134" y="3848904"/>
            <a:ext cx="3131128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spc="-116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The rows which had NULL values in place of AQI column were dropped as the Dataset had large size.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247381" y="2685983"/>
            <a:ext cx="244951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32" dirty="0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MISSING VALUES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85949" y="3852898"/>
            <a:ext cx="2500723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spc="-116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Approx 3-16% values per </a:t>
            </a:r>
            <a:r>
              <a:rPr lang="en-US" sz="2199" b="1" spc="-116" dirty="0" err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coulmn</a:t>
            </a:r>
            <a:r>
              <a:rPr lang="en-US" sz="2199" b="1" spc="-116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were missing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11507" y="2712509"/>
            <a:ext cx="2334419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32" dirty="0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DATA CLEANING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68715" y="3885254"/>
            <a:ext cx="2061455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spc="-116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Missing values were replaced by Median.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0240" y="6040699"/>
            <a:ext cx="2222698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32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FINAL DATASET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5886" y="7100924"/>
            <a:ext cx="3091406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spc="-116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Out of 16 Features ,6 Pollutants that affect most to AQI were used for training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06960" y="6194495"/>
            <a:ext cx="1629767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132" dirty="0">
                <a:solidFill>
                  <a:srgbClr val="ACB7D2"/>
                </a:solidFill>
                <a:latin typeface="Inter Bold"/>
                <a:ea typeface="Inter Bold"/>
                <a:cs typeface="Inter Bold"/>
                <a:sym typeface="Inter Bold"/>
              </a:rPr>
              <a:t>DATA SPLIT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5073" y="7173030"/>
            <a:ext cx="261353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spc="-116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80% Data for training and 20% for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V="1">
            <a:off x="76200" y="144515"/>
            <a:ext cx="4075862" cy="4075862"/>
          </a:xfrm>
          <a:custGeom>
            <a:avLst/>
            <a:gdLst/>
            <a:ahLst/>
            <a:cxnLst/>
            <a:rect l="l" t="t" r="r" b="b"/>
            <a:pathLst>
              <a:path w="4075862" h="4075862">
                <a:moveTo>
                  <a:pt x="0" y="4075862"/>
                </a:moveTo>
                <a:lnTo>
                  <a:pt x="4075863" y="4075862"/>
                </a:lnTo>
                <a:lnTo>
                  <a:pt x="4075863" y="0"/>
                </a:lnTo>
                <a:lnTo>
                  <a:pt x="0" y="0"/>
                </a:lnTo>
                <a:lnTo>
                  <a:pt x="0" y="4075862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 rot="-5400000">
            <a:off x="14097000" y="6057900"/>
            <a:ext cx="4075862" cy="4075862"/>
          </a:xfrm>
          <a:custGeom>
            <a:avLst/>
            <a:gdLst/>
            <a:ahLst/>
            <a:cxnLst/>
            <a:rect l="l" t="t" r="r" b="b"/>
            <a:pathLst>
              <a:path w="4075862" h="4075862">
                <a:moveTo>
                  <a:pt x="0" y="0"/>
                </a:moveTo>
                <a:lnTo>
                  <a:pt x="4075862" y="0"/>
                </a:lnTo>
                <a:lnTo>
                  <a:pt x="4075862" y="4075862"/>
                </a:lnTo>
                <a:lnTo>
                  <a:pt x="0" y="407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9525000" y="4003392"/>
            <a:ext cx="5959980" cy="3273104"/>
          </a:xfrm>
          <a:custGeom>
            <a:avLst/>
            <a:gdLst/>
            <a:ahLst/>
            <a:cxnLst/>
            <a:rect l="l" t="t" r="r" b="b"/>
            <a:pathLst>
              <a:path w="5959980" h="3273104">
                <a:moveTo>
                  <a:pt x="0" y="0"/>
                </a:moveTo>
                <a:lnTo>
                  <a:pt x="5959980" y="0"/>
                </a:lnTo>
                <a:lnTo>
                  <a:pt x="5959980" y="3273103"/>
                </a:lnTo>
                <a:lnTo>
                  <a:pt x="0" y="3273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992969" y="4954587"/>
            <a:ext cx="30206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 spc="-105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2827558"/>
            <a:ext cx="10815963" cy="100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2879" b="1" spc="-152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Linear regression - first approach to establish performance floor.</a:t>
            </a:r>
          </a:p>
          <a:p>
            <a:pPr algn="ctr">
              <a:lnSpc>
                <a:spcPts val="4031"/>
              </a:lnSpc>
              <a:spcBef>
                <a:spcPct val="0"/>
              </a:spcBef>
            </a:pPr>
            <a:r>
              <a:rPr lang="en-US" sz="2879" b="1" spc="-152" dirty="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526" y="4219506"/>
            <a:ext cx="7447486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spc="-13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Models AQI as a weighted linear sum of pollutant features. Assumes additive ,proportional relationships between predictors and target.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86102" y="1539379"/>
            <a:ext cx="11457705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 dirty="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BASELINE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38400" y="1181100"/>
            <a:ext cx="13938809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 dirty="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LINEAR REGRESSION RESULTS 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1229"/>
            <a:ext cx="3200400" cy="2366897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3"/>
                </a:lnTo>
                <a:lnTo>
                  <a:pt x="0" y="2810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00000">
            <a:off x="14041634" y="7476678"/>
            <a:ext cx="4246366" cy="2810322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2"/>
                </a:lnTo>
                <a:lnTo>
                  <a:pt x="0" y="281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43000" y="2379187"/>
            <a:ext cx="11189819" cy="7459879"/>
          </a:xfrm>
          <a:custGeom>
            <a:avLst/>
            <a:gdLst/>
            <a:ahLst/>
            <a:cxnLst/>
            <a:rect l="l" t="t" r="r" b="b"/>
            <a:pathLst>
              <a:path w="11189819" h="7459879">
                <a:moveTo>
                  <a:pt x="0" y="0"/>
                </a:moveTo>
                <a:lnTo>
                  <a:pt x="11189819" y="0"/>
                </a:lnTo>
                <a:lnTo>
                  <a:pt x="11189819" y="7459879"/>
                </a:lnTo>
                <a:lnTo>
                  <a:pt x="0" y="7459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14053646" y="0"/>
            <a:ext cx="4075862" cy="4075862"/>
          </a:xfrm>
          <a:custGeom>
            <a:avLst/>
            <a:gdLst/>
            <a:ahLst/>
            <a:cxnLst/>
            <a:rect l="l" t="t" r="r" b="b"/>
            <a:pathLst>
              <a:path w="4075862" h="4075862">
                <a:moveTo>
                  <a:pt x="0" y="4075862"/>
                </a:moveTo>
                <a:lnTo>
                  <a:pt x="4075863" y="4075862"/>
                </a:lnTo>
                <a:lnTo>
                  <a:pt x="4075863" y="0"/>
                </a:lnTo>
                <a:lnTo>
                  <a:pt x="0" y="0"/>
                </a:lnTo>
                <a:lnTo>
                  <a:pt x="0" y="4075862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491" y="6159023"/>
            <a:ext cx="4075862" cy="4075862"/>
          </a:xfrm>
          <a:custGeom>
            <a:avLst/>
            <a:gdLst/>
            <a:ahLst/>
            <a:cxnLst/>
            <a:rect l="l" t="t" r="r" b="b"/>
            <a:pathLst>
              <a:path w="4075862" h="4075862">
                <a:moveTo>
                  <a:pt x="0" y="0"/>
                </a:moveTo>
                <a:lnTo>
                  <a:pt x="4075862" y="0"/>
                </a:lnTo>
                <a:lnTo>
                  <a:pt x="4075862" y="4075862"/>
                </a:lnTo>
                <a:lnTo>
                  <a:pt x="0" y="4075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10308766" y="3800541"/>
            <a:ext cx="5782812" cy="4977754"/>
          </a:xfrm>
          <a:custGeom>
            <a:avLst/>
            <a:gdLst/>
            <a:ahLst/>
            <a:cxnLst/>
            <a:rect l="l" t="t" r="r" b="b"/>
            <a:pathLst>
              <a:path w="5782812" h="4977754">
                <a:moveTo>
                  <a:pt x="0" y="0"/>
                </a:moveTo>
                <a:lnTo>
                  <a:pt x="5782812" y="0"/>
                </a:lnTo>
                <a:lnTo>
                  <a:pt x="5782812" y="4977754"/>
                </a:lnTo>
                <a:lnTo>
                  <a:pt x="0" y="4977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7846" y="2654481"/>
            <a:ext cx="10815963" cy="100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1"/>
              </a:lnSpc>
            </a:pPr>
            <a:r>
              <a:rPr lang="en-US" sz="2879" b="1" spc="-15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Random Forest - uses many decision trees to make better prediction.</a:t>
            </a:r>
          </a:p>
          <a:p>
            <a:pPr algn="ctr">
              <a:lnSpc>
                <a:spcPts val="4031"/>
              </a:lnSpc>
              <a:spcBef>
                <a:spcPct val="0"/>
              </a:spcBef>
            </a:pPr>
            <a:r>
              <a:rPr lang="en-US" sz="2879" b="1" spc="-15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743391"/>
            <a:ext cx="6743020" cy="244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2"/>
              </a:lnSpc>
              <a:spcBef>
                <a:spcPct val="0"/>
              </a:spcBef>
            </a:pPr>
            <a:r>
              <a:rPr lang="en-US" sz="2802" spc="-1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AQI depends on complex ,non linear relationships between pollutants . It builds multiple trees ,each tree makes a prediction and the final output is the average of all the predictions.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8988" y="1091780"/>
            <a:ext cx="11457705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MODEL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000" y="1862356"/>
            <a:ext cx="12461970" cy="8307980"/>
          </a:xfrm>
          <a:custGeom>
            <a:avLst/>
            <a:gdLst/>
            <a:ahLst/>
            <a:cxnLst/>
            <a:rect l="l" t="t" r="r" b="b"/>
            <a:pathLst>
              <a:path w="12461970" h="8307980">
                <a:moveTo>
                  <a:pt x="0" y="0"/>
                </a:moveTo>
                <a:lnTo>
                  <a:pt x="12461970" y="0"/>
                </a:lnTo>
                <a:lnTo>
                  <a:pt x="12461970" y="8307980"/>
                </a:lnTo>
                <a:lnTo>
                  <a:pt x="0" y="830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3166071" y="1351181"/>
            <a:ext cx="15109639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 dirty="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RESULTS COMPARISON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112F39-9FEA-82A1-BF80-38CB1E77ABD0}"/>
              </a:ext>
            </a:extLst>
          </p:cNvPr>
          <p:cNvSpPr/>
          <p:nvPr/>
        </p:nvSpPr>
        <p:spPr>
          <a:xfrm>
            <a:off x="-29497" y="27325"/>
            <a:ext cx="3733800" cy="2858632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2"/>
                </a:lnTo>
                <a:lnTo>
                  <a:pt x="0" y="2810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2AFF186-932B-5159-9171-A002C4918D7E}"/>
              </a:ext>
            </a:extLst>
          </p:cNvPr>
          <p:cNvSpPr/>
          <p:nvPr/>
        </p:nvSpPr>
        <p:spPr>
          <a:xfrm rot="10800000">
            <a:off x="14645148" y="7505700"/>
            <a:ext cx="3657600" cy="2781300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2"/>
                </a:lnTo>
                <a:lnTo>
                  <a:pt x="0" y="2810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58200" y="2857500"/>
            <a:ext cx="7613028" cy="6444891"/>
          </a:xfrm>
          <a:custGeom>
            <a:avLst/>
            <a:gdLst/>
            <a:ahLst/>
            <a:cxnLst/>
            <a:rect l="l" t="t" r="r" b="b"/>
            <a:pathLst>
              <a:path w="7613028" h="6444891">
                <a:moveTo>
                  <a:pt x="0" y="0"/>
                </a:moveTo>
                <a:lnTo>
                  <a:pt x="7613028" y="0"/>
                </a:lnTo>
                <a:lnTo>
                  <a:pt x="7613028" y="6444891"/>
                </a:lnTo>
                <a:lnTo>
                  <a:pt x="0" y="6444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89180" y="1590225"/>
            <a:ext cx="15109639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 dirty="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IMPACT OF EVERY POLLUTANT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8202" y="3289296"/>
            <a:ext cx="6995477" cy="2471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sz="2806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Particulate matter (PM2.5 </a:t>
            </a:r>
            <a:r>
              <a:rPr lang="en-US" sz="280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PM10) &amp; Carbon Monoxide have the most significant impact on AQI values globally, often acting as the primary driver for "poor" or "severe" air quality readings.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8BCB30F3-926E-13EF-836E-5883C792681E}"/>
              </a:ext>
            </a:extLst>
          </p:cNvPr>
          <p:cNvSpPr/>
          <p:nvPr/>
        </p:nvSpPr>
        <p:spPr>
          <a:xfrm rot="5400000">
            <a:off x="143843" y="105744"/>
            <a:ext cx="3446113" cy="3429000"/>
          </a:xfrm>
          <a:custGeom>
            <a:avLst/>
            <a:gdLst/>
            <a:ahLst/>
            <a:cxnLst/>
            <a:rect l="l" t="t" r="r" b="b"/>
            <a:pathLst>
              <a:path w="4075862" h="4075862">
                <a:moveTo>
                  <a:pt x="0" y="0"/>
                </a:moveTo>
                <a:lnTo>
                  <a:pt x="4075862" y="0"/>
                </a:lnTo>
                <a:lnTo>
                  <a:pt x="4075862" y="4075862"/>
                </a:lnTo>
                <a:lnTo>
                  <a:pt x="0" y="407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DF5724D3-E551-D9D5-8357-44A2505B7E25}"/>
              </a:ext>
            </a:extLst>
          </p:cNvPr>
          <p:cNvSpPr/>
          <p:nvPr/>
        </p:nvSpPr>
        <p:spPr>
          <a:xfrm rot="16200000">
            <a:off x="14780269" y="6822431"/>
            <a:ext cx="3242724" cy="3542462"/>
          </a:xfrm>
          <a:custGeom>
            <a:avLst/>
            <a:gdLst/>
            <a:ahLst/>
            <a:cxnLst/>
            <a:rect l="l" t="t" r="r" b="b"/>
            <a:pathLst>
              <a:path w="4075862" h="4075862">
                <a:moveTo>
                  <a:pt x="0" y="0"/>
                </a:moveTo>
                <a:lnTo>
                  <a:pt x="4075862" y="0"/>
                </a:lnTo>
                <a:lnTo>
                  <a:pt x="4075862" y="4075862"/>
                </a:lnTo>
                <a:lnTo>
                  <a:pt x="0" y="40758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1354654"/>
            <a:ext cx="15109639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8000" b="1" spc="-424" dirty="0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16200000"/>
                </a:gradFill>
                <a:latin typeface="Inter Medium"/>
                <a:ea typeface="Inter Medium"/>
                <a:cs typeface="Inter Medium"/>
                <a:sym typeface="Inter Medium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3460751"/>
            <a:ext cx="13170914" cy="5460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253" lvl="1" indent="-329627">
              <a:lnSpc>
                <a:spcPts val="6168"/>
              </a:lnSpc>
              <a:buFont typeface="Arial"/>
              <a:buChar char="•"/>
            </a:pPr>
            <a:r>
              <a:rPr lang="en-US" sz="305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Linear Regression established a solid baseline</a:t>
            </a:r>
          </a:p>
          <a:p>
            <a:pPr marL="659253" lvl="1" indent="-329627">
              <a:lnSpc>
                <a:spcPts val="6168"/>
              </a:lnSpc>
              <a:buFont typeface="Arial"/>
              <a:buChar char="•"/>
            </a:pPr>
            <a:r>
              <a:rPr lang="en-US" sz="305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Random Forest enhanced performance by reducing errors</a:t>
            </a:r>
          </a:p>
          <a:p>
            <a:pPr marL="659253" lvl="1" indent="-329627">
              <a:lnSpc>
                <a:spcPts val="6168"/>
              </a:lnSpc>
              <a:buFont typeface="Arial"/>
              <a:buChar char="•"/>
            </a:pPr>
            <a:r>
              <a:rPr lang="en-US" sz="305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Improved R² indicates better goodness of fit</a:t>
            </a:r>
          </a:p>
          <a:p>
            <a:pPr marL="659253" lvl="1" indent="-329627">
              <a:lnSpc>
                <a:spcPts val="6168"/>
              </a:lnSpc>
              <a:buFont typeface="Arial"/>
              <a:buChar char="•"/>
            </a:pPr>
            <a:r>
              <a:rPr lang="en-US" sz="305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Prediction errors reduced substantially</a:t>
            </a:r>
          </a:p>
          <a:p>
            <a:pPr marL="659253" lvl="1" indent="-329627">
              <a:lnSpc>
                <a:spcPts val="6168"/>
              </a:lnSpc>
              <a:buFont typeface="Arial"/>
              <a:buChar char="•"/>
            </a:pPr>
            <a:r>
              <a:rPr lang="en-US" sz="305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 explains ~90% AQI variability</a:t>
            </a:r>
          </a:p>
          <a:p>
            <a:pPr marL="659253" lvl="1" indent="-329627">
              <a:lnSpc>
                <a:spcPts val="6168"/>
              </a:lnSpc>
              <a:buFont typeface="Arial"/>
              <a:buChar char="•"/>
            </a:pPr>
            <a:r>
              <a:rPr lang="en-US" sz="305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 captures non-linear pollutant relationships</a:t>
            </a:r>
          </a:p>
          <a:p>
            <a:pPr marL="659253" lvl="1" indent="-329627">
              <a:lnSpc>
                <a:spcPts val="6168"/>
              </a:lnSpc>
              <a:buFont typeface="Arial"/>
              <a:buChar char="•"/>
            </a:pPr>
            <a:r>
              <a:rPr lang="en-US" sz="305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Suitable for AQI estimation &amp; monitoring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5B71C5C-ADCA-A316-4848-8B1FD5365091}"/>
              </a:ext>
            </a:extLst>
          </p:cNvPr>
          <p:cNvSpPr/>
          <p:nvPr/>
        </p:nvSpPr>
        <p:spPr>
          <a:xfrm rot="10800000">
            <a:off x="14645148" y="7505700"/>
            <a:ext cx="3657600" cy="2781300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2"/>
                </a:lnTo>
                <a:lnTo>
                  <a:pt x="0" y="281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4E40935-4BE3-979E-8CCB-53954F33346D}"/>
              </a:ext>
            </a:extLst>
          </p:cNvPr>
          <p:cNvSpPr/>
          <p:nvPr/>
        </p:nvSpPr>
        <p:spPr>
          <a:xfrm>
            <a:off x="29497" y="0"/>
            <a:ext cx="3657600" cy="2781300"/>
          </a:xfrm>
          <a:custGeom>
            <a:avLst/>
            <a:gdLst/>
            <a:ahLst/>
            <a:cxnLst/>
            <a:rect l="l" t="t" r="r" b="b"/>
            <a:pathLst>
              <a:path w="4246366" h="2810322">
                <a:moveTo>
                  <a:pt x="0" y="0"/>
                </a:moveTo>
                <a:lnTo>
                  <a:pt x="4246366" y="0"/>
                </a:lnTo>
                <a:lnTo>
                  <a:pt x="4246366" y="2810322"/>
                </a:lnTo>
                <a:lnTo>
                  <a:pt x="0" y="281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389</Words>
  <Application>Microsoft Office PowerPoint</Application>
  <PresentationFormat>Custom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Inter Medium</vt:lpstr>
      <vt:lpstr>Inter Bold Italics</vt:lpstr>
      <vt:lpstr>Calibri</vt:lpstr>
      <vt:lpstr>Inter Italics</vt:lpstr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Futuristic Modern Artificial Intelligence Presentation</dc:title>
  <dc:creator>PC</dc:creator>
  <cp:lastModifiedBy>Maithli Arora</cp:lastModifiedBy>
  <cp:revision>4</cp:revision>
  <dcterms:created xsi:type="dcterms:W3CDTF">2006-08-16T00:00:00Z</dcterms:created>
  <dcterms:modified xsi:type="dcterms:W3CDTF">2026-02-24T13:45:30Z</dcterms:modified>
  <dc:identifier>DAHCNeswtSY</dc:identifier>
</cp:coreProperties>
</file>